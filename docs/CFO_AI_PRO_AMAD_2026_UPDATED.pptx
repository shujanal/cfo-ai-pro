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oject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977265"/>
            <a:ext cx="5303520" cy="29832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60120"/>
            <a:ext cx="5303520" cy="6400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CFO AI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5394960" cy="32004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D2E1F0"/>
                </a:solidFill>
                <a:latin typeface="Arial"/>
              </a:rPr>
              <a:t>AI-powered financial decision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5212080" cy="9144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From Excel data to financial health, bank readiness, forecasts, decision simulation, and executive recommendations.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977639"/>
            <a:ext cx="2926080" cy="36576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700" b="1">
                <a:solidFill>
                  <a:srgbClr val="2CA58D"/>
                </a:solidFill>
                <a:latin typeface="Arial"/>
              </a:rPr>
              <a:t>AMAD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3108960" cy="36576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Shujaan Almutairi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41148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CFO AI PRO | AMAD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32004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2CA58D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766560" cy="50292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rial"/>
              </a:rPr>
              <a:t>Problem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84048"/>
            <a:ext cx="5120640" cy="4114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1500" b="0">
                <a:solidFill>
                  <a:srgbClr val="6B7280"/>
                </a:solidFill>
                <a:latin typeface="Arial"/>
              </a:rPr>
              <a:t>المشكلة والحل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E2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0060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84248"/>
            <a:ext cx="4800600" cy="11430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SMEs often keep financial data in Excel, but analysis, financing readiness, and decision simulation are still manual or spread across disconnected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828800"/>
          </a:xfrm>
          <a:prstGeom prst="rect">
            <a:avLst/>
          </a:prstGeom>
          <a:solidFill>
            <a:srgbClr val="2CA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00200"/>
            <a:ext cx="480060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84248"/>
            <a:ext cx="4800600" cy="11430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CFO AI PRO unifies the full CFO workflow in one AI-supported platform: upload data, analyze, forecast, simulate, rank decisions, and generate recommendations.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94760"/>
            <a:ext cx="4754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1F2937"/>
                </a:solidFill>
                <a:latin typeface="Arial"/>
              </a:defRPr>
            </a:pPr>
            <a:r>
              <a:t>تسريع التحليل المالي</a:t>
            </a:r>
          </a:p>
          <a:p>
            <a:pPr algn="r">
              <a:defRPr sz="1800">
                <a:solidFill>
                  <a:srgbClr val="1F2937"/>
                </a:solidFill>
                <a:latin typeface="Arial"/>
              </a:defRPr>
            </a:pPr>
            <a:r>
              <a:t>تقييم الجاهزية التمويلية</a:t>
            </a:r>
          </a:p>
          <a:p>
            <a:pPr algn="r">
              <a:defRPr sz="1800">
                <a:solidFill>
                  <a:srgbClr val="1F2937"/>
                </a:solidFill>
                <a:latin typeface="Arial"/>
              </a:defRPr>
            </a:pPr>
            <a:r>
              <a:t>محاكاة القرار قبل تنفيذه</a:t>
            </a:r>
          </a:p>
          <a:p>
            <a:pPr algn="r">
              <a:defRPr sz="1800">
                <a:solidFill>
                  <a:srgbClr val="1F2937"/>
                </a:solidFill>
                <a:latin typeface="Arial"/>
              </a:defRPr>
            </a:pPr>
            <a:r>
              <a:t>توصيات قابلة للتفسير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794760"/>
            <a:ext cx="4754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1F2937"/>
                </a:solidFill>
                <a:latin typeface="Arial"/>
              </a:defRPr>
            </a:pPr>
            <a:r>
              <a:t>Less manual work</a:t>
            </a:r>
          </a:p>
          <a:p>
            <a:pPr algn="l">
              <a:defRPr sz="1800">
                <a:solidFill>
                  <a:srgbClr val="1F2937"/>
                </a:solidFill>
                <a:latin typeface="Arial"/>
              </a:defRPr>
            </a:pPr>
            <a:r>
              <a:t>Better decision confidence</a:t>
            </a:r>
          </a:p>
          <a:p>
            <a:pPr algn="l">
              <a:defRPr sz="1800">
                <a:solidFill>
                  <a:srgbClr val="1F2937"/>
                </a:solidFill>
                <a:latin typeface="Arial"/>
              </a:defRPr>
            </a:pPr>
            <a:r>
              <a:t>Clear evidence for banks and management</a:t>
            </a:r>
          </a:p>
          <a:p>
            <a:pPr algn="l">
              <a:defRPr sz="1800">
                <a:solidFill>
                  <a:srgbClr val="1F2937"/>
                </a:solidFill>
                <a:latin typeface="Arial"/>
              </a:defRPr>
            </a:pPr>
            <a:r>
              <a:t>Works with demo data or uploaded Excel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41148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CFO AI PRO | AMAD Hackathon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32004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2CA58D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766560" cy="50292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rial"/>
              </a:rPr>
              <a:t>Who Benefits?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84048"/>
            <a:ext cx="5120640" cy="4114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1500" b="0">
                <a:solidFill>
                  <a:srgbClr val="6B7280"/>
                </a:solidFill>
                <a:latin typeface="Arial"/>
              </a:rPr>
              <a:t>من يستفيد؟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920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306324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For Business Owners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92808"/>
            <a:ext cx="3063240" cy="123444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Understand profitability, expenses, risk, and next actions without needing a full finance team.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73152" cy="1920240"/>
          </a:xfrm>
          <a:prstGeom prst="rect">
            <a:avLst/>
          </a:prstGeom>
          <a:solidFill>
            <a:srgbClr val="2CA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08760"/>
            <a:ext cx="306324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For Banks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892808"/>
            <a:ext cx="3063240" cy="123444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Use readiness indicators and evidence-based explanations before formal credit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25880"/>
            <a:ext cx="73152" cy="1920240"/>
          </a:xfrm>
          <a:prstGeom prst="rect">
            <a:avLst/>
          </a:prstGeom>
          <a:solidFill>
            <a:srgbClr val="E2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508760"/>
            <a:ext cx="306324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For CFO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892808"/>
            <a:ext cx="3063240" cy="123444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Run scenarios, compare decisions, and export an executive report for management.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  <a:latin typeface="Arial"/>
              </a:rPr>
              <a:t>Decision support, not an automated lending decision.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10332720" cy="4114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Arial"/>
              </a:rPr>
              <a:t>المنصة تدعم القرار، ولا تستبدل المراجعة البشرية أو مستندات البنك.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41148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CFO AI PRO | AMAD Hackathon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32004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2CA58D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766560" cy="50292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rial"/>
              </a:rPr>
              <a:t>Data &amp; AI Excel Converter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84048"/>
            <a:ext cx="5120640" cy="4114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1500" b="0">
                <a:solidFill>
                  <a:srgbClr val="6B7280"/>
                </a:solidFill>
                <a:latin typeface="Arial"/>
              </a:rPr>
              <a:t>البيانات وتحويل Excel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3657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>
                <a:solidFill>
                  <a:srgbClr val="1F2937"/>
                </a:solidFill>
                <a:latin typeface="Arial"/>
              </a:defRPr>
            </a:pPr>
            <a:r>
              <a:t>Sales Data</a:t>
            </a:r>
          </a:p>
          <a:p>
            <a:pPr algn="l">
              <a:defRPr sz="1900">
                <a:solidFill>
                  <a:srgbClr val="1F2937"/>
                </a:solidFill>
                <a:latin typeface="Arial"/>
              </a:defRPr>
            </a:pPr>
            <a:r>
              <a:t>Expenses Data</a:t>
            </a:r>
          </a:p>
          <a:p>
            <a:pPr algn="l">
              <a:defRPr sz="1900">
                <a:solidFill>
                  <a:srgbClr val="1F2937"/>
                </a:solidFill>
                <a:latin typeface="Arial"/>
              </a:defRPr>
            </a:pPr>
            <a:r>
              <a:t>Employees Data</a:t>
            </a:r>
          </a:p>
          <a:p>
            <a:pPr algn="l">
              <a:defRPr sz="1900">
                <a:solidFill>
                  <a:srgbClr val="1F2937"/>
                </a:solidFill>
                <a:latin typeface="Arial"/>
              </a:defRPr>
            </a:pPr>
            <a:r>
              <a:t>Invoices</a:t>
            </a:r>
          </a:p>
          <a:p>
            <a:pPr algn="l">
              <a:defRPr sz="1900">
                <a:solidFill>
                  <a:srgbClr val="1F2937"/>
                </a:solidFill>
                <a:latin typeface="Arial"/>
              </a:defRPr>
            </a:pPr>
            <a:r>
              <a:t>Customers</a:t>
            </a:r>
          </a:p>
          <a:p>
            <a:pPr algn="l">
              <a:defRPr sz="1900">
                <a:solidFill>
                  <a:srgbClr val="1F2937"/>
                </a:solidFill>
                <a:latin typeface="Arial"/>
              </a:defRPr>
            </a:pPr>
            <a:r>
              <a:t>Financial Statements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325880"/>
            <a:ext cx="65836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09160" y="1325880"/>
            <a:ext cx="73152" cy="1737360"/>
          </a:xfrm>
          <a:prstGeom prst="rect">
            <a:avLst/>
          </a:prstGeom>
          <a:solidFill>
            <a:srgbClr val="2CA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508760"/>
            <a:ext cx="617220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AI Excel Converter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892808"/>
            <a:ext cx="6172200" cy="105156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If the uploaded workbook does not match CFO AI's template, the system attempts to detect sheets and columns, preview the mapping, and generate a compatible CFO AI Excel 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3383280"/>
            <a:ext cx="65836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9160" y="3383280"/>
            <a:ext cx="73152" cy="1280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3566160"/>
            <a:ext cx="617220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Template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950208"/>
            <a:ext cx="6172200" cy="59436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A downloadable Excel template is still available when automatic mapping is not confident enough.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5029200"/>
            <a:ext cx="3017520" cy="457200"/>
          </a:xfrm>
          <a:prstGeom prst="roundRect">
            <a:avLst/>
          </a:prstGeom>
          <a:solidFill>
            <a:srgbClr val="E2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5120640"/>
            <a:ext cx="301752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revenue / sales / amount -&gt; Sales.Amount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5029200"/>
            <a:ext cx="2834640" cy="457200"/>
          </a:xfrm>
          <a:prstGeom prst="roundRect">
            <a:avLst/>
          </a:prstGeom>
          <a:solidFill>
            <a:srgbClr val="E2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5120640"/>
            <a:ext cx="283464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client / customer -&gt; Sales.Customer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41148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CFO AI PRO | AMAD Hackathon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32004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2CA58D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766560" cy="50292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rial"/>
              </a:rPr>
              <a:t>Project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84048"/>
            <a:ext cx="5120640" cy="4114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1500" b="0">
                <a:solidFill>
                  <a:srgbClr val="6B7280"/>
                </a:solidFill>
                <a:latin typeface="Arial"/>
              </a:rPr>
              <a:t>رحلة المشروع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73152" cy="1325880"/>
          </a:xfrm>
          <a:prstGeom prst="rect">
            <a:avLst/>
          </a:prstGeom>
          <a:solidFill>
            <a:srgbClr val="2CA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210312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84248"/>
            <a:ext cx="2103120" cy="6400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Upload Excel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417320"/>
            <a:ext cx="73152" cy="1325880"/>
          </a:xfrm>
          <a:prstGeom prst="rect">
            <a:avLst/>
          </a:prstGeom>
          <a:solidFill>
            <a:srgbClr val="2CA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600200"/>
            <a:ext cx="210312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984248"/>
            <a:ext cx="2103120" cy="6400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Validate &amp; Convert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73152" cy="1325880"/>
          </a:xfrm>
          <a:prstGeom prst="rect">
            <a:avLst/>
          </a:prstGeom>
          <a:solidFill>
            <a:srgbClr val="2CA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00200"/>
            <a:ext cx="210312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84248"/>
            <a:ext cx="2103120" cy="6400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AI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1732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73152" cy="1325880"/>
          </a:xfrm>
          <a:prstGeom prst="rect">
            <a:avLst/>
          </a:prstGeom>
          <a:solidFill>
            <a:srgbClr val="2CA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600200"/>
            <a:ext cx="210312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1984248"/>
            <a:ext cx="2103120" cy="6400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Financial Health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47472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474720"/>
            <a:ext cx="73152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657600"/>
            <a:ext cx="210312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041648"/>
            <a:ext cx="2103120" cy="6400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Forecast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47472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83280" y="3474720"/>
            <a:ext cx="73152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3657600"/>
            <a:ext cx="210312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041648"/>
            <a:ext cx="2103120" cy="6400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Decision Simulator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47472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474720"/>
            <a:ext cx="73152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657600"/>
            <a:ext cx="210312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041648"/>
            <a:ext cx="2103120" cy="6400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AI Recommendation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47472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3474720"/>
            <a:ext cx="73152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3657600"/>
            <a:ext cx="210312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4041648"/>
            <a:ext cx="2103120" cy="6400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PDF 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715000"/>
            <a:ext cx="9875520" cy="4572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2400" b="1">
                <a:solidFill>
                  <a:srgbClr val="E26F50"/>
                </a:solidFill>
                <a:latin typeface="Arial"/>
              </a:rPr>
              <a:t>Input -&gt; Analysis -&gt; Decision -&gt; Executive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41148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CFO AI PRO | AMAD Hackathon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32004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2CA58D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766560" cy="50292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rial"/>
              </a:rPr>
              <a:t>Dashboard &amp; Financial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84048"/>
            <a:ext cx="5120640" cy="4114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1500" b="0">
                <a:solidFill>
                  <a:srgbClr val="6B7280"/>
                </a:solidFill>
                <a:latin typeface="Arial"/>
              </a:rPr>
              <a:t>لوحة التحليل والصحة المالية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0972800" cy="425196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jec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080" y="1417320"/>
            <a:ext cx="6908800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715000"/>
            <a:ext cx="10789920" cy="36576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Arial"/>
              </a:rPr>
              <a:t>Key indicators: revenue, expenses, net profit, profit margin, financial health.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41148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CFO AI PRO | AMAD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32004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2CA58D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766560" cy="50292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rial"/>
              </a:rPr>
              <a:t>Bank Financing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84048"/>
            <a:ext cx="5120640" cy="4114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1500" b="0">
                <a:solidFill>
                  <a:srgbClr val="6B7280"/>
                </a:solidFill>
                <a:latin typeface="Arial"/>
              </a:rPr>
              <a:t>الجاهزية التمويلية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12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554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0060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Readiness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92808"/>
            <a:ext cx="4800600" cy="8686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Calculates a transparent score and grade using profitability, cost efficiency, collections, and financial stability.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2120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25880"/>
            <a:ext cx="73152" cy="1554480"/>
          </a:xfrm>
          <a:prstGeom prst="rect">
            <a:avLst/>
          </a:prstGeom>
          <a:solidFill>
            <a:srgbClr val="2CA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08760"/>
            <a:ext cx="480060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Explainability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92808"/>
            <a:ext cx="4800600" cy="8686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Shows why the company received the score, what may prevent financing, and how to improve readiness.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4937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1F2937"/>
                </a:solidFill>
                <a:latin typeface="Arial"/>
              </a:defRPr>
            </a:pPr>
            <a:r>
              <a:t>Why this score?</a:t>
            </a:r>
          </a:p>
          <a:p>
            <a:pPr algn="l">
              <a:defRPr sz="2000">
                <a:solidFill>
                  <a:srgbClr val="1F2937"/>
                </a:solidFill>
                <a:latin typeface="Arial"/>
              </a:defRPr>
            </a:pPr>
            <a:r>
              <a:t>What blocks financing?</a:t>
            </a:r>
          </a:p>
          <a:p>
            <a:pPr algn="l">
              <a:defRPr sz="2000">
                <a:solidFill>
                  <a:srgbClr val="1F2937"/>
                </a:solidFill>
                <a:latin typeface="Arial"/>
              </a:defRPr>
            </a:pPr>
            <a:r>
              <a:t>How can the score improve?</a:t>
            </a:r>
          </a:p>
          <a:p>
            <a:pPr algn="l">
              <a:defRPr sz="2000">
                <a:solidFill>
                  <a:srgbClr val="1F2937"/>
                </a:solidFill>
                <a:latin typeface="Arial"/>
              </a:defRPr>
            </a:pPr>
            <a:r>
              <a:t>Indicative financing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474720"/>
            <a:ext cx="4937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1F2937"/>
                </a:solidFill>
                <a:latin typeface="Arial"/>
              </a:defRPr>
            </a:pPr>
            <a:r>
              <a:t>لماذا حصلت الشركة على الدرجة؟</a:t>
            </a:r>
          </a:p>
          <a:p>
            <a:pPr algn="r">
              <a:defRPr sz="2000">
                <a:solidFill>
                  <a:srgbClr val="1F2937"/>
                </a:solidFill>
                <a:latin typeface="Arial"/>
              </a:defRPr>
            </a:pPr>
            <a:r>
              <a:t>ما الذي قد يمنع التمويل؟</a:t>
            </a:r>
          </a:p>
          <a:p>
            <a:pPr algn="r">
              <a:defRPr sz="2000">
                <a:solidFill>
                  <a:srgbClr val="1F2937"/>
                </a:solidFill>
                <a:latin typeface="Arial"/>
              </a:defRPr>
            </a:pPr>
            <a:r>
              <a:t>كيف يمكن رفع الدرجة؟</a:t>
            </a:r>
          </a:p>
          <a:p>
            <a:pPr algn="r">
              <a:defRPr sz="2000">
                <a:solidFill>
                  <a:srgbClr val="1F2937"/>
                </a:solidFill>
                <a:latin typeface="Arial"/>
              </a:defRPr>
            </a:pPr>
            <a:r>
              <a:t>حد تمويلي إرشادي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41148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CFO AI PRO | AMAD Hackathon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32004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2CA58D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766560" cy="50292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rial"/>
              </a:rPr>
              <a:t>CFO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84048"/>
            <a:ext cx="5120640" cy="4114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1500" b="0">
                <a:solidFill>
                  <a:srgbClr val="6B7280"/>
                </a:solidFill>
                <a:latin typeface="Arial"/>
              </a:rPr>
              <a:t>الميزة الرئيسية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669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73152" cy="2057400"/>
          </a:xfrm>
          <a:prstGeom prst="rect">
            <a:avLst/>
          </a:prstGeom>
          <a:solidFill>
            <a:srgbClr val="2CA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17320"/>
            <a:ext cx="525780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One-click CFO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01368"/>
            <a:ext cx="5257800" cy="1371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The agent validates the file, reads the analysis, calculates health and readiness, runs forecast, ranks scenarios, creates a recommendation, and answers management questions.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234440"/>
            <a:ext cx="47548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1234440"/>
            <a:ext cx="73152" cy="2057400"/>
          </a:xfrm>
          <a:prstGeom prst="rect">
            <a:avLst/>
          </a:prstGeom>
          <a:solidFill>
            <a:srgbClr val="E2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417320"/>
            <a:ext cx="434340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What judges should remember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801368"/>
            <a:ext cx="4343400" cy="1371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CFO AI PRO is not just a dashboard. It is an AI-supported decision agent for finance teams, SMEs, and banks.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86200"/>
            <a:ext cx="3154680" cy="4572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77640"/>
            <a:ext cx="315468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Validate Excel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886200"/>
            <a:ext cx="3154680" cy="4572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977640"/>
            <a:ext cx="315468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Analyze 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886200"/>
            <a:ext cx="3154680" cy="4572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977640"/>
            <a:ext cx="315468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Forecast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72000"/>
            <a:ext cx="3154680" cy="457200"/>
          </a:xfrm>
          <a:prstGeom prst="roundRect">
            <a:avLst/>
          </a:prstGeom>
          <a:solidFill>
            <a:srgbClr val="2CA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663440"/>
            <a:ext cx="315468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Rank Scenarios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4572000"/>
            <a:ext cx="3154680" cy="457200"/>
          </a:xfrm>
          <a:prstGeom prst="roundRect">
            <a:avLst/>
          </a:prstGeom>
          <a:solidFill>
            <a:srgbClr val="2CA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663440"/>
            <a:ext cx="315468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Recommend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4572000"/>
            <a:ext cx="3154680" cy="457200"/>
          </a:xfrm>
          <a:prstGeom prst="roundRect">
            <a:avLst/>
          </a:prstGeom>
          <a:solidFill>
            <a:srgbClr val="2CA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663440"/>
            <a:ext cx="315468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Answer Questions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41148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CFO AI PRO | AMAD Hackathon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32004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2CA58D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766560" cy="50292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rial"/>
              </a:rPr>
              <a:t>Hybrid AI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84048"/>
            <a:ext cx="5120640" cy="4114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1500" b="0">
                <a:solidFill>
                  <a:srgbClr val="6B7280"/>
                </a:solidFill>
                <a:latin typeface="Arial"/>
              </a:rPr>
              <a:t>تصميم ذكي وآمن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2011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80060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Verified Financial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92808"/>
            <a:ext cx="4800600" cy="13258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Used for sensitive numeric questions: scores, financing readiness, risks, and decision ranking. It prevents hallucinated numbers.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25880"/>
            <a:ext cx="73152" cy="2011680"/>
          </a:xfrm>
          <a:prstGeom prst="rect">
            <a:avLst/>
          </a:prstGeom>
          <a:solidFill>
            <a:srgbClr val="2CA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08760"/>
            <a:ext cx="480060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Local AI with Ollama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92808"/>
            <a:ext cx="4800600" cy="13258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Used for executive explanations, summaries, communication, and open-ended analysis. Data stays on the presenter's machine during the local demo.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10149840" cy="50292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2700" b="1">
                <a:solidFill>
                  <a:srgbClr val="E26F50"/>
                </a:solidFill>
                <a:latin typeface="Arial"/>
              </a:rPr>
              <a:t>Accurate numbers + private explanation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10149840" cy="4114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Arial"/>
              </a:rPr>
              <a:t>الأرقام الحساسة من محرك موثوق، والصياغة التنفيذية من ذكاء اصطناعي محلي.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41148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CFO AI PRO | AMAD Hackathon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32004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2CA58D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766560" cy="50292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rial"/>
              </a:rPr>
              <a:t>Decision Simulator &amp;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84048"/>
            <a:ext cx="5120640" cy="4114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1500" b="0">
                <a:solidFill>
                  <a:srgbClr val="6B7280"/>
                </a:solidFill>
                <a:latin typeface="Arial"/>
              </a:rPr>
              <a:t>محاكاة وترتيب القرارات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1645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0060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4800600" cy="96012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Test changes before implementation: increase sales, reduce expenses, or hire employees.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3444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73152" cy="1645920"/>
          </a:xfrm>
          <a:prstGeom prst="rect">
            <a:avLst/>
          </a:prstGeom>
          <a:solidFill>
            <a:srgbClr val="2CA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17320"/>
            <a:ext cx="480060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01368"/>
            <a:ext cx="4800600" cy="96012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Ranks the best scenarios using expected profit, financial health, execution risk, and confidence.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49377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1F2937"/>
                </a:solidFill>
                <a:latin typeface="Arial"/>
              </a:defRPr>
            </a:pPr>
            <a:r>
              <a:t>Recommended Action</a:t>
            </a:r>
          </a:p>
          <a:p>
            <a:pPr algn="l">
              <a:defRPr sz="2100">
                <a:solidFill>
                  <a:srgbClr val="1F2937"/>
                </a:solidFill>
                <a:latin typeface="Arial"/>
              </a:defRPr>
            </a:pPr>
            <a:r>
              <a:t>Expected Impact</a:t>
            </a:r>
          </a:p>
          <a:p>
            <a:pPr algn="l">
              <a:defRPr sz="2100">
                <a:solidFill>
                  <a:srgbClr val="1F2937"/>
                </a:solidFill>
                <a:latin typeface="Arial"/>
              </a:defRPr>
            </a:pPr>
            <a:r>
              <a:t>Why?</a:t>
            </a:r>
          </a:p>
          <a:p>
            <a:pPr algn="l">
              <a:defRPr sz="2100">
                <a:solidFill>
                  <a:srgbClr val="1F2937"/>
                </a:solidFill>
                <a:latin typeface="Arial"/>
              </a:defRPr>
            </a:pPr>
            <a:r>
              <a:t>Risks</a:t>
            </a:r>
          </a:p>
          <a:p>
            <a:pPr algn="l">
              <a:defRPr sz="2100">
                <a:solidFill>
                  <a:srgbClr val="1F2937"/>
                </a:solidFill>
                <a:latin typeface="Arial"/>
              </a:defRPr>
            </a:pPr>
            <a:r>
              <a:t>Management Advice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474720"/>
            <a:ext cx="49377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100">
                <a:solidFill>
                  <a:srgbClr val="1F2937"/>
                </a:solidFill>
                <a:latin typeface="Arial"/>
              </a:defRPr>
            </a:pPr>
            <a:r>
              <a:t>التوصية</a:t>
            </a:r>
          </a:p>
          <a:p>
            <a:pPr algn="r">
              <a:defRPr sz="2100">
                <a:solidFill>
                  <a:srgbClr val="1F2937"/>
                </a:solidFill>
                <a:latin typeface="Arial"/>
              </a:defRPr>
            </a:pPr>
            <a:r>
              <a:t>الأثر المتوقع</a:t>
            </a:r>
          </a:p>
          <a:p>
            <a:pPr algn="r">
              <a:defRPr sz="2100">
                <a:solidFill>
                  <a:srgbClr val="1F2937"/>
                </a:solidFill>
                <a:latin typeface="Arial"/>
              </a:defRPr>
            </a:pPr>
            <a:r>
              <a:t>السبب</a:t>
            </a:r>
          </a:p>
          <a:p>
            <a:pPr algn="r">
              <a:defRPr sz="2100">
                <a:solidFill>
                  <a:srgbClr val="1F2937"/>
                </a:solidFill>
                <a:latin typeface="Arial"/>
              </a:defRPr>
            </a:pPr>
            <a:r>
              <a:t>المخاطر</a:t>
            </a:r>
          </a:p>
          <a:p>
            <a:pPr algn="r">
              <a:defRPr sz="2100">
                <a:solidFill>
                  <a:srgbClr val="1F2937"/>
                </a:solidFill>
                <a:latin typeface="Arial"/>
              </a:defRPr>
            </a:pPr>
            <a:r>
              <a:t>نصيحة للإدارة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41148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CFO AI PRO | AMAD Hackathon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32004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2CA58D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766560" cy="50292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rial"/>
              </a:rPr>
              <a:t>Executive Report &amp;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84048"/>
            <a:ext cx="5120640" cy="4114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1500" b="0">
                <a:solidFill>
                  <a:srgbClr val="6B7280"/>
                </a:solidFill>
                <a:latin typeface="Arial"/>
              </a:rPr>
              <a:t>المخرجات التنفيذية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828800"/>
          </a:xfrm>
          <a:prstGeom prst="rect">
            <a:avLst/>
          </a:prstGeom>
          <a:solidFill>
            <a:srgbClr val="2CA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0060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Polished PDF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92808"/>
            <a:ext cx="4800600" cy="11430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Generates a clean executive report with health indicators, recommended scenario, impact, management advice, and disclaimer.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25880"/>
            <a:ext cx="73152" cy="1828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08760"/>
            <a:ext cx="480060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GitHub + Live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92808"/>
            <a:ext cx="4800600" cy="11430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The repository includes README, screenshots, presentation files, Excel template, and the Streamlit live application link.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10515600" cy="32004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700" b="1">
                <a:solidFill>
                  <a:srgbClr val="1F2937"/>
                </a:solidFill>
                <a:latin typeface="Arial"/>
              </a:rPr>
              <a:t>Live Demo: https://dcv7wnj96dqkafa7rb2ukc.streamlit.app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10515600" cy="32004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700" b="1">
                <a:solidFill>
                  <a:srgbClr val="1F2937"/>
                </a:solidFill>
                <a:latin typeface="Arial"/>
              </a:rPr>
              <a:t>GitHub: https://github.com/shujanAL/CFO-AI-PRO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41148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CFO AI PRO | AMAD Hackathon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32004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2CA58D"/>
                </a:solidFill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766560" cy="50292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rial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84048"/>
            <a:ext cx="5120640" cy="4114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1500" b="0">
                <a:solidFill>
                  <a:srgbClr val="6B7280"/>
                </a:solidFill>
                <a:latin typeface="Arial"/>
              </a:rPr>
              <a:t>التقنيات المستخدمة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2240280" cy="457200"/>
          </a:xfrm>
          <a:prstGeom prst="roundRect">
            <a:avLst/>
          </a:prstGeom>
          <a:solidFill>
            <a:srgbClr val="2CA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224028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79" y="1417320"/>
            <a:ext cx="2240280" cy="4572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508760"/>
            <a:ext cx="224028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Streamlit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2240280" cy="457200"/>
          </a:xfrm>
          <a:prstGeom prst="roundRect">
            <a:avLst/>
          </a:prstGeom>
          <a:solidFill>
            <a:srgbClr val="2CA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224028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Pandas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19" y="1417320"/>
            <a:ext cx="2240280" cy="4572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19" y="1508760"/>
            <a:ext cx="224028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Plotly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194560"/>
            <a:ext cx="2240280" cy="457200"/>
          </a:xfrm>
          <a:prstGeom prst="roundRect">
            <a:avLst/>
          </a:prstGeom>
          <a:solidFill>
            <a:srgbClr val="2CA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286000"/>
            <a:ext cx="224028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SQLite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79" y="2194560"/>
            <a:ext cx="2240280" cy="4572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79" y="2286000"/>
            <a:ext cx="224028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OpenPyXL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194560"/>
            <a:ext cx="2240280" cy="457200"/>
          </a:xfrm>
          <a:prstGeom prst="roundRect">
            <a:avLst/>
          </a:prstGeom>
          <a:solidFill>
            <a:srgbClr val="2CA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286000"/>
            <a:ext cx="224028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ReportLab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2194560"/>
            <a:ext cx="2240280" cy="4572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19" y="2286000"/>
            <a:ext cx="224028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Ollama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2971800"/>
            <a:ext cx="2240280" cy="457200"/>
          </a:xfrm>
          <a:prstGeom prst="roundRect">
            <a:avLst/>
          </a:prstGeom>
          <a:solidFill>
            <a:srgbClr val="2CA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063240"/>
            <a:ext cx="224028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qwen2.5:3b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79" y="2971800"/>
            <a:ext cx="2240280" cy="4572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79" y="3063240"/>
            <a:ext cx="224028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GitHub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971800"/>
            <a:ext cx="2240280" cy="457200"/>
          </a:xfrm>
          <a:prstGeom prst="roundRect">
            <a:avLst/>
          </a:prstGeom>
          <a:solidFill>
            <a:srgbClr val="2CA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063240"/>
            <a:ext cx="224028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VS 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572000"/>
            <a:ext cx="102412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4572000"/>
            <a:ext cx="73152" cy="1005840"/>
          </a:xfrm>
          <a:prstGeom prst="rect">
            <a:avLst/>
          </a:prstGeom>
          <a:solidFill>
            <a:srgbClr val="E2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4754880"/>
            <a:ext cx="9829800" cy="292608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138928"/>
            <a:ext cx="9829800" cy="32004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rial"/>
              </a:rPr>
              <a:t>A modular Python app: components for UI, engines for finance logic, utilities for Excel conversion, and report generation for executive output.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41148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CFO AI PRO | AMAD Hackathon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32004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2CA58D"/>
                </a:solidFill>
                <a:latin typeface="Arial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766560" cy="50292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Arial"/>
              </a:rPr>
              <a:t>What Makes CFO AI PRO Different?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84048"/>
            <a:ext cx="5120640" cy="41148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1500" b="0">
                <a:solidFill>
                  <a:srgbClr val="6B7280"/>
                </a:solidFill>
                <a:latin typeface="Arial"/>
              </a:rPr>
              <a:t>ما الذي يميز المشروع؟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2743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5303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>
                <a:solidFill>
                  <a:srgbClr val="1F2937"/>
                </a:solidFill>
                <a:latin typeface="Arial"/>
              </a:defRPr>
            </a:pPr>
            <a:r>
              <a:t>Combines financial analytics and AI in one platform</a:t>
            </a:r>
          </a:p>
          <a:p>
            <a:pPr algn="l">
              <a:defRPr sz="1900">
                <a:solidFill>
                  <a:srgbClr val="1F2937"/>
                </a:solidFill>
                <a:latin typeface="Arial"/>
              </a:defRPr>
            </a:pPr>
            <a:r>
              <a:t>Evaluates bank-financing readiness</a:t>
            </a:r>
          </a:p>
          <a:p>
            <a:pPr algn="l">
              <a:defRPr sz="1900">
                <a:solidFill>
                  <a:srgbClr val="1F2937"/>
                </a:solidFill>
                <a:latin typeface="Arial"/>
              </a:defRPr>
            </a:pPr>
            <a:r>
              <a:t>Simulates decisions before implementation</a:t>
            </a:r>
          </a:p>
          <a:p>
            <a:pPr algn="l">
              <a:defRPr sz="1900">
                <a:solidFill>
                  <a:srgbClr val="1F2937"/>
                </a:solidFill>
                <a:latin typeface="Arial"/>
              </a:defRPr>
            </a:pPr>
            <a:r>
              <a:t>Ranks the best options using evidence</a:t>
            </a:r>
          </a:p>
          <a:p>
            <a:pPr algn="l">
              <a:defRPr sz="1900">
                <a:solidFill>
                  <a:srgbClr val="1F2937"/>
                </a:solidFill>
                <a:latin typeface="Arial"/>
              </a:defRPr>
            </a:pPr>
            <a:r>
              <a:t>Uses Local AI + Verified Financial Engine</a:t>
            </a:r>
          </a:p>
          <a:p>
            <a:pPr algn="l">
              <a:defRPr sz="1900">
                <a:solidFill>
                  <a:srgbClr val="1F2937"/>
                </a:solidFill>
                <a:latin typeface="Arial"/>
              </a:defRPr>
            </a:pPr>
            <a:r>
              <a:t>Generates executive PDF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25880"/>
            <a:ext cx="5303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900">
                <a:solidFill>
                  <a:srgbClr val="1F2937"/>
                </a:solidFill>
                <a:latin typeface="Arial"/>
              </a:defRPr>
            </a:pPr>
            <a:r>
              <a:t>يجمع التحليل المالي والذكاء الاصطناعي</a:t>
            </a:r>
          </a:p>
          <a:p>
            <a:pPr algn="r">
              <a:defRPr sz="1900">
                <a:solidFill>
                  <a:srgbClr val="1F2937"/>
                </a:solidFill>
                <a:latin typeface="Arial"/>
              </a:defRPr>
            </a:pPr>
            <a:r>
              <a:t>يقيم الجاهزية التمويلية</a:t>
            </a:r>
          </a:p>
          <a:p>
            <a:pPr algn="r">
              <a:defRPr sz="1900">
                <a:solidFill>
                  <a:srgbClr val="1F2937"/>
                </a:solidFill>
                <a:latin typeface="Arial"/>
              </a:defRPr>
            </a:pPr>
            <a:r>
              <a:t>يحاكي القرارات قبل التنفيذ</a:t>
            </a:r>
          </a:p>
          <a:p>
            <a:pPr algn="r">
              <a:defRPr sz="1900">
                <a:solidFill>
                  <a:srgbClr val="1F2937"/>
                </a:solidFill>
                <a:latin typeface="Arial"/>
              </a:defRPr>
            </a:pPr>
            <a:r>
              <a:t>يرتب أفضل الخيارات بالأدلة</a:t>
            </a:r>
          </a:p>
          <a:p>
            <a:pPr algn="r">
              <a:defRPr sz="1900">
                <a:solidFill>
                  <a:srgbClr val="1F2937"/>
                </a:solidFill>
                <a:latin typeface="Arial"/>
              </a:defRPr>
            </a:pPr>
            <a:r>
              <a:t>يجمع بين ذكاء محلي ومحرك موثوق</a:t>
            </a:r>
          </a:p>
          <a:p>
            <a:pPr algn="r">
              <a:defRPr sz="1900">
                <a:solidFill>
                  <a:srgbClr val="1F2937"/>
                </a:solidFill>
                <a:latin typeface="Arial"/>
              </a:defRPr>
            </a:pPr>
            <a:r>
              <a:t>ينتج تقريرًا تنفيذيًا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3200" b="1">
                <a:solidFill>
                  <a:srgbClr val="1F4E79"/>
                </a:solidFill>
                <a:latin typeface="Arial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Arial"/>
              </a:rPr>
              <a:t>Shujaan Almutairi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41148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CFO AI PRO | AMAD Hackathon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 lIns="50800" rIns="508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